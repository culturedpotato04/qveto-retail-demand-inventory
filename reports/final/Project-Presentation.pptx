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31f48ceede4bae" /><Relationship Type="http://schemas.openxmlformats.org/officeDocument/2006/relationships/extended-properties" Target="/docProps/app.xml" Id="R5c86266c156a4a4c" /><Relationship Type="http://schemas.openxmlformats.org/officeDocument/2006/relationships/officeDocument" Target="/ppt/presentation.xml" Id="Rde226d1cc53b45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039d6f6792485c"/>
  </p:sldMasterIdLst>
  <p:notesMasterIdLst>
    <p:notesMasterId xmlns:r="http://schemas.openxmlformats.org/officeDocument/2006/relationships" r:id="Rb8f27a889b254b25"/>
  </p:notesMasterIdLst>
  <p:sldIdLst>
    <p:sldId xmlns:r="http://schemas.openxmlformats.org/officeDocument/2006/relationships" id="256" r:id="R8326180ff0d54656"/>
    <p:sldId xmlns:r="http://schemas.openxmlformats.org/officeDocument/2006/relationships" id="257" r:id="R1e761c080ca84c8d"/>
    <p:sldId xmlns:r="http://schemas.openxmlformats.org/officeDocument/2006/relationships" id="258" r:id="R0c7b81a2a8c1457f"/>
    <p:sldId xmlns:r="http://schemas.openxmlformats.org/officeDocument/2006/relationships" id="259" r:id="R8f17ed099b66480f"/>
    <p:sldId xmlns:r="http://schemas.openxmlformats.org/officeDocument/2006/relationships" id="260" r:id="R4dcf2be5c9cf4c13"/>
    <p:sldId xmlns:r="http://schemas.openxmlformats.org/officeDocument/2006/relationships" id="261" r:id="Re29fd72912e042ce"/>
    <p:sldId xmlns:r="http://schemas.openxmlformats.org/officeDocument/2006/relationships" id="262" r:id="R751f2cfec17f4a24"/>
    <p:sldId xmlns:r="http://schemas.openxmlformats.org/officeDocument/2006/relationships" id="263" r:id="R1e91e1018dc046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cf7036c9eb4ab9" /><Relationship Type="http://schemas.openxmlformats.org/officeDocument/2006/relationships/slideMaster" Target="/ppt/slideMasters/slideMaster1.xml" Id="R16039d6f6792485c" /><Relationship Type="http://schemas.openxmlformats.org/officeDocument/2006/relationships/notesMaster" Target="/ppt/notesMasters/notesMaster1.xml" Id="Rb8f27a889b254b25" /><Relationship Type="http://schemas.openxmlformats.org/officeDocument/2006/relationships/presProps" Target="/ppt/presProps.xml" Id="Rde9f98e764c94c56" /><Relationship Type="http://schemas.openxmlformats.org/officeDocument/2006/relationships/tableStyles" Target="/ppt/tableStyles.xml" Id="R3521dd99271247ca" /><Relationship Type="http://schemas.openxmlformats.org/officeDocument/2006/relationships/slide" Target="/ppt/slides/slide1.xml" Id="R8326180ff0d54656" /><Relationship Type="http://schemas.openxmlformats.org/officeDocument/2006/relationships/slide" Target="/ppt/slides/slide2.xml" Id="R1e761c080ca84c8d" /><Relationship Type="http://schemas.openxmlformats.org/officeDocument/2006/relationships/slide" Target="/ppt/slides/slide3.xml" Id="R0c7b81a2a8c1457f" /><Relationship Type="http://schemas.openxmlformats.org/officeDocument/2006/relationships/slide" Target="/ppt/slides/slide4.xml" Id="R8f17ed099b66480f" /><Relationship Type="http://schemas.openxmlformats.org/officeDocument/2006/relationships/slide" Target="/ppt/slides/slide5.xml" Id="R4dcf2be5c9cf4c13" /><Relationship Type="http://schemas.openxmlformats.org/officeDocument/2006/relationships/slide" Target="/ppt/slides/slide6.xml" Id="Re29fd72912e042ce" /><Relationship Type="http://schemas.openxmlformats.org/officeDocument/2006/relationships/slide" Target="/ppt/slides/slide7.xml" Id="R751f2cfec17f4a24" /><Relationship Type="http://schemas.openxmlformats.org/officeDocument/2006/relationships/slide" Target="/ppt/slides/slide8.xml" Id="R1e91e1018dc046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3fc6d9df504b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b7003332a447ec" /><Relationship Type="http://schemas.openxmlformats.org/officeDocument/2006/relationships/notesMaster" Target="/ppt/notesMasters/notesMaster1.xml" Id="R1c5ff1b6e77445c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93dd442df54aed" /><Relationship Type="http://schemas.openxmlformats.org/officeDocument/2006/relationships/notesMaster" Target="/ppt/notesMasters/notesMaster1.xml" Id="Rc7e8ec7ac0bd41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8ef872dab5494c" /><Relationship Type="http://schemas.openxmlformats.org/officeDocument/2006/relationships/notesMaster" Target="/ppt/notesMasters/notesMaster1.xml" Id="R7650281bd18246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efbd4b15fa4478" /><Relationship Type="http://schemas.openxmlformats.org/officeDocument/2006/relationships/notesMaster" Target="/ppt/notesMasters/notesMaster1.xml" Id="R62d02bbaf8144c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d0a17eba014cc1" /><Relationship Type="http://schemas.openxmlformats.org/officeDocument/2006/relationships/notesMaster" Target="/ppt/notesMasters/notesMaster1.xml" Id="R4c4101d7f40045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7cc762e42147c5" /><Relationship Type="http://schemas.openxmlformats.org/officeDocument/2006/relationships/notesMaster" Target="/ppt/notesMasters/notesMaster1.xml" Id="Rd4934e71e8384cd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3a468f7bcd4be0" /><Relationship Type="http://schemas.openxmlformats.org/officeDocument/2006/relationships/notesMaster" Target="/ppt/notesMasters/notesMaster1.xml" Id="Rda9246ee8c0747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89c26931b2b4408" /><Relationship Type="http://schemas.openxmlformats.org/officeDocument/2006/relationships/notesMaster" Target="/ppt/notesMasters/notesMaster1.xml" Id="R0d5f0264f2a840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Qveto Technologies Project 1 brief. Implementation by Shree Pranav G with AI assistance. Historical research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Chen, D. (2015). Online Retail. UCI Machine Learning Repository. DOI:10.24432/C5BW33. https://archive.ics.uci.edu/dataset/352/online+retail . CC BY 4.0. quality.json and demand-profile.csv.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src/retail_pipeline.py; reports/retail/results.json. Rolling one-day-ahead evaluation, not a fixed-origin multi-day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reports/retail/comparison.csv frozen 26 October 2026. MAE improvement=(59.780375-46.286350)/59.780375. Validation-selected RF leaf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reports/retail/test-month-errors.csv, largest-errors.csv and per-product-errors.csv. Descriptive error analysis only; no test-driven tuning.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src/inventory.py, INVENTORY-INTEGRATION.md and config/inventory-demo.json. Constant lead time, independent stationary demand, normal approximation. No measured savings or service guarantee.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README.md, src/app.py, src/api.py, tests/test_application.py. All 17 local tests passed 30 October 2026. Company submission status is recorded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reports/retail/ANALYSIS.md recommendations; recommendations are proposals, not completed field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06a58e9b14f6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53e097cc454b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3bc1b32f6444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30555c6d6d421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75957abf5405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49e394281c44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1DB683-A3E8-4D35-8571-28A1C041A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4F0A1C-DC59-4E5A-B43D-E733426EBCA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E9BCC6F-394B-430F-8F2A-F75DBC8F86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C05D8C-8622-4EFA-BD68-E292CBA5C4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9B7578-B233-4723-938D-22C19CAA9F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ACB0A0-619E-484F-8575-17CC2D16F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65B24BE-CA3D-473E-8705-975E9BE0AF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49D3483-C802-4C6D-9DA8-3CD93ADA6E7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1BE030-8458-4317-BF89-4DE20448B6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957955-44F8-4CBC-9015-933447DA9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c5ee012e6f480d" /><Relationship Type="http://schemas.openxmlformats.org/officeDocument/2006/relationships/slideLayout" Target="/ppt/slideLayouts/slideLayout1.xml" Id="Rae52623e05404611" /><Relationship Type="http://schemas.openxmlformats.org/officeDocument/2006/relationships/slideLayout" Target="/ppt/slideLayouts/slideLayout2.xml" Id="R0b50c9f80fc54d48" /><Relationship Type="http://schemas.openxmlformats.org/officeDocument/2006/relationships/slideLayout" Target="/ppt/slideLayouts/slideLayout3.xml" Id="Re44ad2bbbee84e65" /><Relationship Type="http://schemas.openxmlformats.org/officeDocument/2006/relationships/slideLayout" Target="/ppt/slideLayouts/slideLayout4.xml" Id="Rf7264e5921024664" /><Relationship Type="http://schemas.openxmlformats.org/officeDocument/2006/relationships/slideLayout" Target="/ppt/slideLayouts/slideLayout5.xml" Id="R1cf01e7a09754acf" /><Relationship Type="http://schemas.openxmlformats.org/officeDocument/2006/relationships/slideLayout" Target="/ppt/slideLayouts/slideLayout6.xml" Id="Rb3b54a15122543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52623e05404611"/>
    <p:sldLayoutId xmlns:r="http://schemas.openxmlformats.org/officeDocument/2006/relationships" id="2147483650" r:id="R0b50c9f80fc54d48"/>
    <p:sldLayoutId xmlns:r="http://schemas.openxmlformats.org/officeDocument/2006/relationships" id="2147483651" r:id="Re44ad2bbbee84e65"/>
    <p:sldLayoutId xmlns:r="http://schemas.openxmlformats.org/officeDocument/2006/relationships" id="2147483652" r:id="Rf7264e5921024664"/>
    <p:sldLayoutId xmlns:r="http://schemas.openxmlformats.org/officeDocument/2006/relationships" id="2147483653" r:id="R1cf01e7a09754acf"/>
    <p:sldLayoutId xmlns:r="http://schemas.openxmlformats.org/officeDocument/2006/relationships" id="2147483654" r:id="Rb3b54a15122543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84a267ca041c1" /><Relationship Type="http://schemas.openxmlformats.org/officeDocument/2006/relationships/notesSlide" Target="/ppt/notesSlides/notesSlide1.xml" Id="R9a99e44ec0914f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60e72ee484c57" /><Relationship Type="http://schemas.openxmlformats.org/officeDocument/2006/relationships/notesSlide" Target="/ppt/notesSlides/notesSlide2.xml" Id="R8dcfb71b08ba4c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974a87c254d9c" /><Relationship Type="http://schemas.openxmlformats.org/officeDocument/2006/relationships/notesSlide" Target="/ppt/notesSlides/notesSlide3.xml" Id="R3ef49504d93149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f062173d6420e" /><Relationship Type="http://schemas.openxmlformats.org/officeDocument/2006/relationships/chart" Target="/ppt/slides/charts/chart1.xml" Id="R3a11efc1bdb9485c" /><Relationship Type="http://schemas.openxmlformats.org/officeDocument/2006/relationships/notesSlide" Target="/ppt/notesSlides/notesSlide4.xml" Id="R1ab5b651d5064a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e3cf87d384564" /><Relationship Type="http://schemas.openxmlformats.org/officeDocument/2006/relationships/notesSlide" Target="/ppt/notesSlides/notesSlide5.xml" Id="Rfbd62cc114854f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43f66ed5884464" /><Relationship Type="http://schemas.openxmlformats.org/officeDocument/2006/relationships/notesSlide" Target="/ppt/notesSlides/notesSlide6.xml" Id="R52759a7244974c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1be9067b74452c" /><Relationship Type="http://schemas.openxmlformats.org/officeDocument/2006/relationships/notesSlide" Target="/ppt/notesSlides/notesSlide7.xml" Id="R967e9fead32d4d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8f2ec24c64468" /><Relationship Type="http://schemas.openxmlformats.org/officeDocument/2006/relationships/notesSlide" Target="/ppt/notesSlides/notesSlide8.xml" Id="Rf4de69e8bd37473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Test MAE (units)</c:v>
          </c:tx>
          <c:spPr>
            <a:solidFill xmlns:a="http://schemas.openxmlformats.org/drawingml/2006/main">
              <a:srgbClr val="277E8B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Naive</c:v>
                </c:pt>
                <c:pt idx="1">
                  <c:v>Weekly naive</c:v>
                </c:pt>
                <c:pt idx="2">
                  <c:v>Mean 7</c:v>
                </c:pt>
                <c:pt idx="3">
                  <c:v>RF leaf 3</c:v>
                </c:pt>
                <c:pt idx="4">
                  <c:v>RF leaf 10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69.1556</c:v>
                </c:pt>
                <c:pt idx="1">
                  <c:v>64.5172</c:v>
                </c:pt>
                <c:pt idx="2">
                  <c:v>59.7804</c:v>
                </c:pt>
                <c:pt idx="3">
                  <c:v>47.965</c:v>
                </c:pt>
                <c:pt idx="4">
                  <c:v>46.2864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5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D01B8-43C5-4760-AC6B-6A7BA7D0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Demand forecasting</a:t>
            </a:r>
          </a:p>
          <a:p xmlns:a="http://schemas.openxmlformats.org/drawingml/2006/main">
            <a: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&amp; inventory optimization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822C0-E8CB-4659-8115-D0F6D0C3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Qveto Technologies | Group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8677F-225B-432B-B33A-BCF40930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Five products. Honest validation. Explicit inventory assumptions.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0DF65-1A41-465C-AB2C-9264F328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26172"/>
                </a:solidFill>
                <a:latin typeface="Arial"/>
                <a:ea typeface="Arial"/>
                <a:cs typeface="Arial"/>
              </a:rPr>
              <a:t>Shree Pranav G  /  30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16842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85284-008A-4CEE-9D53-E2BA3C1C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Recorded sales are the starting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F7CE3-DF99-49D1-9FF8-E7DBF6D3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541,909 source rows → 475,216 eligible sales 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25C1E-F133-492D-AB52-4739FAA8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066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UK positive merchandise sales; cancellations and exact duplicates excluded.</a:t>
            </a:r>
          </a:p>
          <a:p xmlns:a="http://schemas.openxmlformats.org/drawingml/2006/main">
            <a: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Five products chosen using training invoices only.</a:t>
            </a:r>
          </a:p>
          <a:p xmlns:a="http://schemas.openxmlformats.org/drawingml/2006/main">
            <a: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373 calendar days per product; no customer identifiers retained.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F7676-6F87-4A0D-9CEE-2B30F644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6172"/>
                </a:solidFill>
                <a:latin typeface="Arial"/>
                <a:ea typeface="Arial"/>
                <a:cs typeface="Arial"/>
              </a:rPr>
              <a:t>No stock, supplier lead times, promotions or lost-sales fields.</a:t>
            </a:r>
          </a:p>
          <a:p xmlns:a="http://schemas.openxmlformats.org/drawingml/2006/main">
            <a: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6172"/>
                </a:solidFill>
                <a:latin typeface="Arial"/>
                <a:ea typeface="Arial"/>
                <a:cs typeface="Arial"/>
              </a:rPr>
              <a:t>No-sale dates mean zero recorded sales; latent demand is unknown.</a:t>
            </a:r>
          </a:p>
        </p:txBody>
      </p:sp>
    </p:spTree>
    <p:extLst>
      <p:ext uri="{BB962C8B-B14F-4D97-AF65-F5344CB8AC3E}">
        <p14:creationId xmlns:p14="http://schemas.microsoft.com/office/powerpoint/2010/main" val="73902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E7F72-8395-4142-BD7E-0C2906D2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Validation selects; the test measures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7706A-8FA3-4932-9837-9CE819AD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Train: 29 Dec 2010 – 30 Jun 2011</a:t>
            </a:r>
          </a:p>
          <a:p xmlns:a="http://schemas.openxmlformats.org/drawingml/2006/main">
            <a: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Validate: 1 Jul – 31 Aug 2011  /  310 product-days</a:t>
            </a:r>
          </a:p>
          <a:p xmlns:a="http://schemas.openxmlformats.org/drawingml/2006/main">
            <a:pPr>
              <a:defRPr sz="22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Test: 1 Sep – 8 Dec 2011  /  495 product-days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FBA67-680B-48AF-BA99-7B71AC90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Past-only lags 1, 7 and 14; shifted rolling means and variability.</a:t>
            </a:r>
          </a:p>
          <a:p xmlns:a="http://schemas.openxmlformats.org/drawingml/2006/main">
            <a: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Naive, seasonal naive and seven-day mean versus two Random Forests.</a:t>
            </a:r>
          </a:p>
          <a:p xmlns:a="http://schemas.openxmlformats.org/drawingml/2006/main">
            <a: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Choose leaf size 10 on validation MAE; refit before reserved test.</a:t>
            </a:r>
          </a:p>
        </p:txBody>
      </p:sp>
    </p:spTree>
    <p:extLst>
      <p:ext uri="{BB962C8B-B14F-4D97-AF65-F5344CB8AC3E}">
        <p14:creationId xmlns:p14="http://schemas.microsoft.com/office/powerpoint/2010/main" val="20353267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F649C-9684-4299-9FD3-CB21D3D8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22.57% lower MAE than the best baseline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E6CC2CEF-C7F3-4E21-A411-DF209737BC3A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72390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11efc1bdb9485c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FFFC8-1C6A-48F7-8634-CE8095B4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09750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46.29</a:t>
            </a:r>
          </a:p>
          <a:p xmlns:a="http://schemas.openxmlformats.org/drawingml/2006/main">
            <a:pPr>
              <a:defRPr sz="25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MAE units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C3432-4AA1-4A40-99C9-9A9889AB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116.75 RMSE</a:t>
            </a:r>
          </a:p>
          <a:p xmlns:a="http://schemas.openxmlformats.org/drawingml/2006/main">
            <a: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68.64% WAPE error</a:t>
            </a:r>
          </a:p>
          <a:p xmlns:a="http://schemas.openxmlformats.org/drawingml/2006/main">
            <a: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−8.30 units bias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65148-48E4-49C9-BB28-B289B922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426172"/>
                </a:solidFill>
                <a:latin typeface="Arial"/>
                <a:ea typeface="Arial"/>
                <a:cs typeface="Arial"/>
              </a:rPr>
              <a:t>Large remaining errors prevent a production-readiness claim.</a:t>
            </a:r>
          </a:p>
        </p:txBody>
      </p:sp>
    </p:spTree>
    <p:extLst>
      <p:ext uri="{BB962C8B-B14F-4D97-AF65-F5344CB8AC3E}">
        <p14:creationId xmlns:p14="http://schemas.microsoft.com/office/powerpoint/2010/main" val="18641144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C1425-6A5E-41C4-B602-7D6A5285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Large bursts remain a failure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4E9F1-2404-4A64-9871-07E6DCC4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076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November bias: −24.16 units per product-day</a:t>
            </a:r>
          </a:p>
          <a:p xmlns:a="http://schemas.openxmlformats.org/drawingml/2006/main">
            <a: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Test monthly MAE ranges from 37.07 to 56.73 units.</a:t>
            </a:r>
          </a:p>
          <a:p xmlns:a="http://schemas.openxmlformats.org/drawingml/2006/main">
            <a:pPr>
              <a:defRPr sz="23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RMSE greatly exceeds MAE: a few large misses matter.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096D7-0916-434A-BBFF-1728491A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763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Bulk orders, unknown promotions and unavailable stock may matter;</a:t>
            </a:r>
          </a:p>
          <a:p xmlns:a="http://schemas.openxmlformats.org/drawingml/2006/main">
            <a: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the dataset cannot establish those causes.</a:t>
            </a:r>
          </a:p>
          <a:p xmlns:a="http://schemas.openxmlformats.org/drawingml/2006/main">
            <a: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Five popular products do not represent the full retail catalog.</a:t>
            </a:r>
          </a:p>
        </p:txBody>
      </p:sp>
    </p:spTree>
    <p:extLst>
      <p:ext uri="{BB962C8B-B14F-4D97-AF65-F5344CB8AC3E}">
        <p14:creationId xmlns:p14="http://schemas.microsoft.com/office/powerpoint/2010/main" val="9050125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ED35B-04F4-42C7-94E3-D523A0CF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Inventory recommendations are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7472D-E188-4F2D-BAC1-C35D51A7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Safety stock = z × daily standard deviation × √lead days</a:t>
            </a:r>
          </a:p>
          <a:p xmlns:a="http://schemas.openxmlformats.org/drawingml/2006/main">
            <a: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Reorder point = mean daily sales × lead days + safety stock</a:t>
            </a:r>
          </a:p>
          <a:p xmlns:a="http://schemas.openxmlformats.org/drawingml/2006/main">
            <a:pPr>
              <a:defRPr sz="21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Inventory position = on hand + on order − backorders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B838E-4EAD-471A-A906-FAB37BB0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Continuous-review (s,S) policy; pack size and minimum order respected.</a:t>
            </a:r>
          </a:p>
          <a:p xmlns:a="http://schemas.openxmlformats.org/drawingml/2006/main">
            <a: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Stock, lead time and service factor are explicit user assumptions.</a:t>
            </a:r>
          </a:p>
          <a:p xmlns:a="http://schemas.openxmlformats.org/drawingml/2006/main">
            <a:pPr>
              <a:defRPr sz="210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Extra coverage is a cycle target, not a periodic review interval.</a:t>
            </a:r>
          </a:p>
        </p:txBody>
      </p:sp>
    </p:spTree>
    <p:extLst>
      <p:ext uri="{BB962C8B-B14F-4D97-AF65-F5344CB8AC3E}">
        <p14:creationId xmlns:p14="http://schemas.microsoft.com/office/powerpoint/2010/main" val="9561112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A1A7D-B2CF-48D9-93D5-35977D58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A complete, reproducible local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C8AB4E-64D6-4BAF-8D17-B461EBF8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Streamlit: demand, product forecasts, inventory and model performance.</a:t>
            </a:r>
          </a:p>
          <a:p xmlns:a="http://schemas.openxmlformats.org/drawingml/2006/main">
            <a: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FastAPI: product catalog, archived one-day forecasts and scenarios.</a:t>
            </a:r>
          </a:p>
          <a:p xmlns:a="http://schemas.openxmlformats.org/drawingml/2006/main">
            <a: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Executed retail notebook, final report, editable slides and setup commands.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CF02C-7F76-4A45-8414-AB2F6EB4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17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131A35-6E08-4023-837B-16918D77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26172"/>
                </a:solidFill>
                <a:latin typeface="Arial"/>
                <a:ea typeface="Arial"/>
                <a:cs typeface="Arial"/>
              </a:rPr>
              <a:t>Leakage contracts, arithmetic, invalid API requests and UI interactions.</a:t>
            </a:r>
          </a:p>
          <a:p xmlns:a="http://schemas.openxmlformats.org/drawingml/2006/main">
            <a:pPr>
              <a:defRPr sz="2025" b="0">
                <a:solidFill>
                  <a:srgbClr val="42617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26172"/>
                </a:solidFill>
                <a:latin typeface="Arial"/>
                <a:ea typeface="Arial"/>
                <a:cs typeface="Arial"/>
              </a:rPr>
              <a:t>No invented teammate work, historical commits or acceptance receipt.</a:t>
            </a:r>
          </a:p>
        </p:txBody>
      </p:sp>
    </p:spTree>
    <p:extLst>
      <p:ext uri="{BB962C8B-B14F-4D97-AF65-F5344CB8AC3E}">
        <p14:creationId xmlns:p14="http://schemas.microsoft.com/office/powerpoint/2010/main" val="7972933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B4677-AF00-40FB-A9AB-FAF8604D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Next: establish operational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2FE8D-E4E1-4D57-8B0D-1EEF059C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858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Obtain actual inventory, receipts and supplier lead-time distributions.</a:t>
            </a:r>
          </a:p>
          <a:p xmlns:a="http://schemas.openxmlformats.org/drawingml/2006/main">
            <a: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Capture promotion, pricing and stockout indicators.</a:t>
            </a:r>
          </a:p>
          <a:p xmlns:a="http://schemas.openxmlformats.org/drawingml/2006/main">
            <a: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Backtest costs and service performance on a new untouched period.</a:t>
            </a:r>
          </a:p>
          <a:p xmlns:a="http://schemas.openxmlformats.org/drawingml/2006/main">
            <a:pPr>
              <a:defRPr sz="23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Calibrate uncertainty, expand products and monitor drift.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CF593-2821-4B04-A066-4BBE99E8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  <a:lvl1pPr>
              <a:defRPr sz="24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1pPr>
            <a:lvl2pPr>
              <a:defRPr sz="24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2pPr>
            <a:lvl3pPr>
              <a:defRPr sz="24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3pPr>
            <a:lvl4pPr>
              <a:defRPr sz="24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4pPr>
            <a:lvl5pPr>
              <a:defRPr sz="24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5pPr>
            <a:lvl6pPr>
              <a:defRPr sz="24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6pPr>
            <a:lvl7pPr>
              <a:defRPr sz="24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7pPr>
            <a:lvl8pPr>
              <a:defRPr sz="24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8pPr>
            <a:lvl9pPr>
              <a:defRPr sz="24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Current output: historical research, ready for review.</a:t>
            </a:r>
          </a:p>
        </p:txBody>
      </p:sp>
    </p:spTree>
    <p:extLst>
      <p:ext uri="{BB962C8B-B14F-4D97-AF65-F5344CB8AC3E}">
        <p14:creationId xmlns:p14="http://schemas.microsoft.com/office/powerpoint/2010/main" val="5704013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2026-10-30T03:12:03.3630000Z</dcterms:created>
  <dcterms:modified xsi:type="dcterms:W3CDTF">2026-10-30T03:12:03.3630000Z</dcterms:modified>
</coreProperties>
</file>